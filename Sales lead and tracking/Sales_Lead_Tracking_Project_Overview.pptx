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0F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Sales Lead Tracking &amp; CRM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DCE8F7"/>
                </a:solidFill>
                <a:latin typeface="Segoe UI"/>
              </a:rPr>
              <a:t>Architecture | Modules | Data Flow | Use Cases | ER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00" b="1">
                <a:solidFill>
                  <a:srgbClr val="0F2C54"/>
                </a:solidFill>
                <a:latin typeface="Segoe UI"/>
              </a:rPr>
              <a:t>Project Snapshot</a:t>
            </a:r>
          </a:p>
          <a:p>
            <a:pPr algn="l"/>
            <a:r>
              <a:rPr sz="1400" b="0">
                <a:solidFill>
                  <a:srgbClr val="23272A"/>
                </a:solidFill>
                <a:latin typeface="Segoe UI"/>
              </a:rPr>
              <a:t>- Frontend: React (Vite), React Router, Axios, AuthContext</a:t>
            </a:r>
          </a:p>
          <a:p>
            <a:pPr algn="l"/>
            <a:r>
              <a:rPr sz="1400" b="0">
                <a:solidFill>
                  <a:srgbClr val="23272A"/>
                </a:solidFill>
                <a:latin typeface="Segoe UI"/>
              </a:rPr>
              <a:t>- Backend: Node.js, Express, JWT authentication, role-based authorization</a:t>
            </a:r>
          </a:p>
          <a:p>
            <a:pPr algn="l"/>
            <a:r>
              <a:rPr sz="1400" b="0">
                <a:solidFill>
                  <a:srgbClr val="23272A"/>
                </a:solidFill>
                <a:latin typeface="Segoe UI"/>
              </a:rPr>
              <a:t>- Database: MongoDB with Mongoose models (User, Lead, Customer, FollowUp, Activity)</a:t>
            </a:r>
          </a:p>
          <a:p>
            <a:pPr algn="l"/>
            <a:r>
              <a:rPr sz="1400" b="0">
                <a:solidFill>
                  <a:srgbClr val="23272A"/>
                </a:solidFill>
                <a:latin typeface="Segoe UI"/>
              </a:rPr>
              <a:t>- Purpose: Manage lead lifecycle from capture to conversion and post-sale relationship</a:t>
            </a:r>
          </a:p>
          <a:p>
            <a:pPr algn="l"/>
            <a:r>
              <a:rPr sz="1400" b="0">
                <a:solidFill>
                  <a:srgbClr val="23272A"/>
                </a:solidFill>
                <a:latin typeface="Segoe UI"/>
              </a:rPr>
              <a:t>- Prepared on: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2C54"/>
                </a:solidFill>
                <a:latin typeface="Segoe UI"/>
              </a:rPr>
              <a:t>1) System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Segoe UI"/>
              </a:rPr>
              <a:t>MERN-based role-aware CRM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32004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9202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User Roles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Admin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Manager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Executive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91640"/>
            <a:ext cx="283464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React Frontend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Pages: Dashboard, Leads, Customers,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FollowUps, Team, Login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AuthContext + ProtectedRoute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Axios API Client + 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916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Express API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Routes + Controllers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Middleware: auth, errorHandler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Service: activityService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9164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MongoDB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Collections: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users, leads, customers,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followups, activities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148840"/>
            <a:ext cx="256032" cy="320040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5623560" y="2148840"/>
            <a:ext cx="256032" cy="320040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8641080" y="2148840"/>
            <a:ext cx="256032" cy="320040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F2C54"/>
                </a:solidFill>
                <a:latin typeface="Segoe UI"/>
              </a:rPr>
              <a:t>Backend Domain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023360"/>
            <a:ext cx="187451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Auth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login/register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JWT + roles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4023360"/>
            <a:ext cx="187451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Lead Mgmt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capture, assign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status, convert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023360"/>
            <a:ext cx="187451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Customer Mgmt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customer records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interactions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023360"/>
            <a:ext cx="187451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Follow-Up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schedule, complete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queue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4023360"/>
            <a:ext cx="1874519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Dashboard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summary KPIs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conversion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2C54"/>
                </a:solidFill>
                <a:latin typeface="Segoe UI"/>
              </a:rPr>
              <a:t>2) Project Breakdown into 6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Segoe UI"/>
              </a:rPr>
              <a:t>Functional decomposition aligned to client pages and server controllers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32004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5440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Module 1: Authentication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Register/Login/Bootstrap Admin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Token management + /auth/me sync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JWT verification middleware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37360"/>
            <a:ext cx="5440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Module 2: Team &amp; RBAC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Roles: admin, manager, executive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Create/list users in Team page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Route-level role authorization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474720"/>
            <a:ext cx="5440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Module 3: Lead Management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Create/update/search leads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Assign ownership + update status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Convert WON leads to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474720"/>
            <a:ext cx="5440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Module 4: Follow-Up Management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Schedule follow-ups by lead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Track due dates and status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Complete follow-up with 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212080"/>
            <a:ext cx="5440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Module 5: Customer CRM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Create/update customers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Track lifecycle stage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Interaction history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212080"/>
            <a:ext cx="54406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Module 6: Dashboard &amp; Analytics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Summary KPIs and pipeline value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Monthly conversion reporting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Executive performance + activity feed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2C54"/>
                </a:solidFill>
                <a:latin typeface="Segoe UI"/>
              </a:rPr>
              <a:t>Module Explanations (Responsibilities and Key Files)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32004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92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Module</a:t>
                      </a:r>
                    </a:p>
                  </a:txBody>
                  <a:tcPr>
                    <a:solidFill>
                      <a:srgbClr val="0F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Primary Responsibility</a:t>
                      </a:r>
                    </a:p>
                  </a:txBody>
                  <a:tcPr>
                    <a:solidFill>
                      <a:srgbClr val="0F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Key Backend Paths</a:t>
                      </a:r>
                    </a:p>
                  </a:txBody>
                  <a:tcPr>
                    <a:solidFill>
                      <a:srgbClr val="0F2C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Key Frontend Paths</a:t>
                      </a:r>
                    </a:p>
                  </a:txBody>
                  <a:tcPr>
                    <a:solidFill>
                      <a:srgbClr val="0F2C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Authentication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Session creation and identity checks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authController, authRoutes, middleware/auth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context/AuthContext, pages/LoginPage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Team &amp; RBAC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Role-based access and team management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authRoutes (/users), authorize middleware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components/ProtectedRoute, pages/TeamPage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Lead Mgmt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Lead lifecycle and conversion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leadController, models/Lead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pages/LeadsPage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Follow-Up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Scheduling and completion workflow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followUpController, models/FollowUp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pages/FollowUpsPage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26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Customer CRM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Customer records and interactions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customerController, models/Customer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pages/CustomersPage</a:t>
                      </a:r>
                    </a:p>
                  </a:txBody>
                  <a:tcPr>
                    <a:solidFill>
                      <a:srgbClr val="FAF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Metrics and reporting aggregates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dashboardController, models/Activity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3272A"/>
                          </a:solidFill>
                          <a:latin typeface="Segoe UI"/>
                        </a:rPr>
                        <a:t>pages/DashboardPage</a:t>
                      </a:r>
                    </a:p>
                  </a:txBody>
                  <a:tcPr>
                    <a:solidFill>
                      <a:srgbClr val="F0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2C54"/>
                </a:solidFill>
                <a:latin typeface="Segoe UI"/>
              </a:rPr>
              <a:t>3)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Segoe UI"/>
              </a:rPr>
              <a:t>Lead-to-Customer operational flow implemented by routes and controllers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32004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2011680"/>
            <a:ext cx="182880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F2C54"/>
                </a:solidFill>
                <a:latin typeface="Segoe UI"/>
              </a:rPr>
              <a:t>1. Authenticate</a:t>
            </a:r>
          </a:p>
          <a:p>
            <a:pPr algn="ctr"/>
            <a:r>
              <a:rPr sz="950" b="0">
                <a:solidFill>
                  <a:srgbClr val="23272A"/>
                </a:solidFill>
                <a:latin typeface="Segoe UI"/>
              </a:rPr>
              <a:t>User logs in</a:t>
            </a:r>
            <a:br/>
            <a:r>
              <a:rPr sz="950" b="0">
                <a:solidFill>
                  <a:srgbClr val="23272A"/>
                </a:solidFill>
                <a:latin typeface="Segoe UI"/>
              </a:rPr>
              <a:t>JWT stored in localStorage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59152" y="2487168"/>
            <a:ext cx="91440" cy="301752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0" y="2011680"/>
            <a:ext cx="182880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F2C54"/>
                </a:solidFill>
                <a:latin typeface="Segoe UI"/>
              </a:rPr>
              <a:t>2. Create Lead</a:t>
            </a:r>
          </a:p>
          <a:p>
            <a:pPr algn="ctr"/>
            <a:r>
              <a:rPr sz="950" b="0">
                <a:solidFill>
                  <a:srgbClr val="23272A"/>
                </a:solidFill>
                <a:latin typeface="Segoe UI"/>
              </a:rPr>
              <a:t>POST /leads</a:t>
            </a:r>
            <a:br/>
            <a:r>
              <a:rPr sz="950" b="0">
                <a:solidFill>
                  <a:srgbClr val="23272A"/>
                </a:solidFill>
                <a:latin typeface="Segoe UI"/>
              </a:rPr>
              <a:t>Lead assigned + activity logged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25112" y="2487168"/>
            <a:ext cx="91440" cy="301752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182880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F2C54"/>
                </a:solidFill>
                <a:latin typeface="Segoe UI"/>
              </a:rPr>
              <a:t>3. Work Lead</a:t>
            </a:r>
          </a:p>
          <a:p>
            <a:pPr algn="ctr"/>
            <a:r>
              <a:rPr sz="950" b="0">
                <a:solidFill>
                  <a:srgbClr val="23272A"/>
                </a:solidFill>
                <a:latin typeface="Segoe UI"/>
              </a:rPr>
              <a:t>PATCH status/assign</a:t>
            </a:r>
            <a:br/>
            <a:r>
              <a:rPr sz="950" b="0">
                <a:solidFill>
                  <a:srgbClr val="23272A"/>
                </a:solidFill>
                <a:latin typeface="Segoe UI"/>
              </a:rPr>
              <a:t>Search + ownership filtering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91072" y="2487168"/>
            <a:ext cx="91440" cy="301752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182880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F2C54"/>
                </a:solidFill>
                <a:latin typeface="Segoe UI"/>
              </a:rPr>
              <a:t>4. Schedule Follow-Up</a:t>
            </a:r>
          </a:p>
          <a:p>
            <a:pPr algn="ctr"/>
            <a:r>
              <a:rPr sz="950" b="0">
                <a:solidFill>
                  <a:srgbClr val="23272A"/>
                </a:solidFill>
                <a:latin typeface="Segoe UI"/>
              </a:rPr>
              <a:t>POST /followups</a:t>
            </a:r>
            <a:br/>
            <a:r>
              <a:rPr sz="950" b="0">
                <a:solidFill>
                  <a:srgbClr val="23272A"/>
                </a:solidFill>
                <a:latin typeface="Segoe UI"/>
              </a:rPr>
              <a:t>Lead.nextFollowUpDate updated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57032" y="2487168"/>
            <a:ext cx="91440" cy="301752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60" y="2011680"/>
            <a:ext cx="182880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F2C54"/>
                </a:solidFill>
                <a:latin typeface="Segoe UI"/>
              </a:rPr>
              <a:t>5. Complete Follow-Up</a:t>
            </a:r>
          </a:p>
          <a:p>
            <a:pPr algn="ctr"/>
            <a:r>
              <a:rPr sz="950" b="0">
                <a:solidFill>
                  <a:srgbClr val="23272A"/>
                </a:solidFill>
                <a:latin typeface="Segoe UI"/>
              </a:rPr>
              <a:t>PATCH /followups/:id/complete</a:t>
            </a:r>
            <a:br/>
            <a:r>
              <a:rPr sz="950" b="0">
                <a:solidFill>
                  <a:srgbClr val="23272A"/>
                </a:solidFill>
                <a:latin typeface="Segoe UI"/>
              </a:rPr>
              <a:t>Lead.lastFollowUpAt updated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222992" y="2487168"/>
            <a:ext cx="91440" cy="301752"/>
          </a:xfrm>
          <a:prstGeom prst="rightArrow">
            <a:avLst/>
          </a:prstGeom>
          <a:solidFill>
            <a:srgbClr val="2E86C1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332720" y="2011680"/>
            <a:ext cx="1828800" cy="12801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0F2C54"/>
                </a:solidFill>
                <a:latin typeface="Segoe UI"/>
              </a:rPr>
              <a:t>6. Convert &amp; Report</a:t>
            </a:r>
          </a:p>
          <a:p>
            <a:pPr algn="ctr"/>
            <a:r>
              <a:rPr sz="950" b="0">
                <a:solidFill>
                  <a:srgbClr val="23272A"/>
                </a:solidFill>
                <a:latin typeface="Segoe UI"/>
              </a:rPr>
              <a:t>POST /leads/:id/convert</a:t>
            </a:r>
            <a:br/>
            <a:r>
              <a:rPr sz="950" b="0">
                <a:solidFill>
                  <a:srgbClr val="23272A"/>
                </a:solidFill>
                <a:latin typeface="Segoe UI"/>
              </a:rPr>
              <a:t>Customer created + dashboard aggregates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77639"/>
            <a:ext cx="106984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How state propagates through the system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Frontend sends authenticated API requests using Axios interceptor with Bearer token.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Controllers validate role permissions, mutate MongoDB entities, and write activity logs.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Follow-up completion updates lead timing fields; conversion creates linked customer records.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Dashboard endpoints aggregate Leads + Customers + FollowUps + Activities for KPIs.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2C54"/>
                </a:solidFill>
                <a:latin typeface="Segoe UI"/>
              </a:rPr>
              <a:t>4) 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Segoe UI"/>
              </a:rPr>
              <a:t>Actors and major business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32004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1480" y="1828800"/>
            <a:ext cx="17373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Admin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Full control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063240"/>
            <a:ext cx="17373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Manager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Operational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4297680"/>
            <a:ext cx="173736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Executive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Execution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600200"/>
            <a:ext cx="905256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F2C54"/>
                </a:solidFill>
                <a:latin typeface="Segoe UI"/>
              </a:rPr>
              <a:t>LeadFlow CRM System</a:t>
            </a:r>
          </a:p>
        </p:txBody>
      </p:sp>
      <p:sp>
        <p:nvSpPr>
          <p:cNvPr id="10" name="Oval 9"/>
          <p:cNvSpPr/>
          <p:nvPr/>
        </p:nvSpPr>
        <p:spPr>
          <a:xfrm>
            <a:off x="2834640" y="214884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Login / Register</a:t>
            </a:r>
          </a:p>
        </p:txBody>
      </p:sp>
      <p:sp>
        <p:nvSpPr>
          <p:cNvPr id="11" name="Oval 10"/>
          <p:cNvSpPr/>
          <p:nvPr/>
        </p:nvSpPr>
        <p:spPr>
          <a:xfrm>
            <a:off x="4937760" y="214884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Manage Team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214884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Create / Assign Leads</a:t>
            </a:r>
          </a:p>
        </p:txBody>
      </p:sp>
      <p:sp>
        <p:nvSpPr>
          <p:cNvPr id="13" name="Oval 12"/>
          <p:cNvSpPr/>
          <p:nvPr/>
        </p:nvSpPr>
        <p:spPr>
          <a:xfrm>
            <a:off x="2834640" y="315468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Update Lead Status</a:t>
            </a:r>
          </a:p>
        </p:txBody>
      </p:sp>
      <p:sp>
        <p:nvSpPr>
          <p:cNvPr id="14" name="Oval 13"/>
          <p:cNvSpPr/>
          <p:nvPr/>
        </p:nvSpPr>
        <p:spPr>
          <a:xfrm>
            <a:off x="5120640" y="315468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Schedule / Complete Follow-Up</a:t>
            </a:r>
          </a:p>
        </p:txBody>
      </p:sp>
      <p:sp>
        <p:nvSpPr>
          <p:cNvPr id="15" name="Oval 14"/>
          <p:cNvSpPr/>
          <p:nvPr/>
        </p:nvSpPr>
        <p:spPr>
          <a:xfrm>
            <a:off x="7635240" y="315468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Convert Lead to Customer</a:t>
            </a:r>
          </a:p>
        </p:txBody>
      </p:sp>
      <p:sp>
        <p:nvSpPr>
          <p:cNvPr id="16" name="Oval 15"/>
          <p:cNvSpPr/>
          <p:nvPr/>
        </p:nvSpPr>
        <p:spPr>
          <a:xfrm>
            <a:off x="3840480" y="416052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Manage Customers &amp; Interactions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4160520"/>
            <a:ext cx="2057400" cy="658368"/>
          </a:xfrm>
          <a:prstGeom prst="ellipse">
            <a:avLst/>
          </a:prstGeom>
          <a:solidFill>
            <a:srgbClr val="EAF3FC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30" b="1">
                <a:solidFill>
                  <a:srgbClr val="23272A"/>
                </a:solidFill>
                <a:latin typeface="Segoe UI"/>
              </a:rPr>
              <a:t>View Dashboard Reports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48840" y="2313432"/>
            <a:ext cx="685800" cy="173736"/>
          </a:xfrm>
          <a:prstGeom prst="line">
            <a:avLst/>
          </a:prstGeom>
          <a:ln w="19050">
            <a:solidFill>
              <a:srgbClr val="0F2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48840" y="2313432"/>
            <a:ext cx="2788920" cy="173736"/>
          </a:xfrm>
          <a:prstGeom prst="line">
            <a:avLst/>
          </a:prstGeom>
          <a:ln w="19050">
            <a:solidFill>
              <a:srgbClr val="0F2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48840" y="2313432"/>
            <a:ext cx="5120640" cy="173736"/>
          </a:xfrm>
          <a:prstGeom prst="line">
            <a:avLst/>
          </a:prstGeom>
          <a:ln w="19050">
            <a:solidFill>
              <a:srgbClr val="0F2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3502152"/>
            <a:ext cx="685800" cy="4572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148840" y="3502152"/>
            <a:ext cx="2971800" cy="4572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48840" y="3547872"/>
            <a:ext cx="4572000" cy="932688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48840" y="3502152"/>
            <a:ext cx="685800" cy="1280160"/>
          </a:xfrm>
          <a:prstGeom prst="line">
            <a:avLst/>
          </a:prstGeom>
          <a:ln w="19050">
            <a:solidFill>
              <a:srgbClr val="196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48840" y="3502152"/>
            <a:ext cx="2971800" cy="1280160"/>
          </a:xfrm>
          <a:prstGeom prst="line">
            <a:avLst/>
          </a:prstGeom>
          <a:ln w="19050">
            <a:solidFill>
              <a:srgbClr val="196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48840" y="4480560"/>
            <a:ext cx="1691640" cy="301752"/>
          </a:xfrm>
          <a:prstGeom prst="line">
            <a:avLst/>
          </a:prstGeom>
          <a:ln w="19050">
            <a:solidFill>
              <a:srgbClr val="196F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2C54"/>
                </a:solidFill>
                <a:latin typeface="Segoe UI"/>
              </a:rPr>
              <a:t>5) 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D6D7E"/>
                </a:solidFill>
                <a:latin typeface="Segoe UI"/>
              </a:rPr>
              <a:t>MongoDB entity relationship model from Mongoose schemas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32004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23317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User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PK _id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name, email, password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role, isActive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createdAt, updatedAt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38405" y="1597430"/>
            <a:ext cx="27432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Lead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PK _id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fullName, email, phone, company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status, source, estimatedValue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assignedTo -&gt; User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createdBy -&gt; User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convertedCustomer -&gt; Customer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00200"/>
            <a:ext cx="25603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FollowUp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PK _id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lead -&gt; Lead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assignedTo -&gt; User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dueDate, type, status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createdBy -&gt;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600200"/>
            <a:ext cx="292608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6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Customer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PK _id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fullName, company, stage, value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leadRef -&gt; Lead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accountManager -&gt; User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interactions[] {type, summary, createdBy}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343400"/>
            <a:ext cx="3886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851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Activity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PK _id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action, entityType, entityId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FK actor -&gt; User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metadata{} , createdAt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377440"/>
            <a:ext cx="274320" cy="0"/>
          </a:xfrm>
          <a:prstGeom prst="line">
            <a:avLst/>
          </a:prstGeom>
          <a:ln w="25400">
            <a:solidFill>
              <a:srgbClr val="0F2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51760" y="2926080"/>
            <a:ext cx="274320" cy="0"/>
          </a:xfrm>
          <a:prstGeom prst="line">
            <a:avLst/>
          </a:prstGeom>
          <a:ln w="25400">
            <a:solidFill>
              <a:srgbClr val="0F2C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2560320"/>
            <a:ext cx="32004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49640" y="2560320"/>
            <a:ext cx="320040" cy="0"/>
          </a:xfrm>
          <a:prstGeom prst="line">
            <a:avLst/>
          </a:prstGeom>
          <a:ln w="2540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08760" y="3840480"/>
            <a:ext cx="3246120" cy="502920"/>
          </a:xfrm>
          <a:prstGeom prst="line">
            <a:avLst/>
          </a:prstGeom>
          <a:ln w="2286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69480" y="3977639"/>
            <a:ext cx="365760" cy="365761"/>
          </a:xfrm>
          <a:prstGeom prst="line">
            <a:avLst/>
          </a:prstGeom>
          <a:ln w="2286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10834" y="2122253"/>
            <a:ext cx="71045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1100" b="0" dirty="0">
                <a:solidFill>
                  <a:srgbClr val="FF0000"/>
                </a:solidFill>
                <a:latin typeface="Segoe UI"/>
              </a:rPr>
              <a:t>1 : many</a:t>
            </a:r>
            <a:endParaRPr sz="1100" b="0" dirty="0">
              <a:solidFill>
                <a:srgbClr val="FF0000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02191" y="2315215"/>
            <a:ext cx="137409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F0000"/>
                </a:solidFill>
                <a:latin typeface="Segoe UI"/>
              </a:rPr>
              <a:t>Lead 1:M </a:t>
            </a:r>
            <a:r>
              <a:rPr sz="1100" b="0" dirty="0" err="1">
                <a:solidFill>
                  <a:srgbClr val="FF0000"/>
                </a:solidFill>
                <a:latin typeface="Segoe UI"/>
              </a:rPr>
              <a:t>FollowUp</a:t>
            </a:r>
            <a:endParaRPr sz="1100" b="0" dirty="0">
              <a:solidFill>
                <a:srgbClr val="FF0000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14766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F0000"/>
                </a:solidFill>
                <a:latin typeface="Segoe UI"/>
              </a:rPr>
              <a:t>Lead 1:0..1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203470"/>
            <a:ext cx="159210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dirty="0">
                <a:solidFill>
                  <a:srgbClr val="FF0000"/>
                </a:solidFill>
                <a:latin typeface="Segoe UI"/>
              </a:rPr>
              <a:t>User 1:M A</a:t>
            </a:r>
            <a:r>
              <a:rPr lang="en-IN" sz="1050" b="0" dirty="0" err="1">
                <a:solidFill>
                  <a:srgbClr val="FF0000"/>
                </a:solidFill>
                <a:latin typeface="Segoe UI"/>
              </a:rPr>
              <a:t>ctiv</a:t>
            </a:r>
            <a:r>
              <a:rPr sz="1050" b="0" dirty="0" err="1">
                <a:solidFill>
                  <a:srgbClr val="FF0000"/>
                </a:solidFill>
                <a:latin typeface="Segoe UI"/>
              </a:rPr>
              <a:t>ity</a:t>
            </a:r>
            <a:r>
              <a:rPr sz="1050" b="0" dirty="0">
                <a:solidFill>
                  <a:srgbClr val="FF0000"/>
                </a:solidFill>
                <a:latin typeface="Segoe UI"/>
              </a:rPr>
              <a:t> (</a:t>
            </a:r>
            <a:r>
              <a:rPr lang="en-IN" sz="1050" b="0" dirty="0" err="1">
                <a:solidFill>
                  <a:srgbClr val="FF0000"/>
                </a:solidFill>
                <a:latin typeface="Segoe UI"/>
              </a:rPr>
              <a:t>acto</a:t>
            </a:r>
            <a:r>
              <a:rPr sz="1050" b="0" dirty="0">
                <a:solidFill>
                  <a:srgbClr val="FF0000"/>
                </a:solidFill>
                <a:latin typeface="Segoe UI"/>
              </a:rPr>
              <a:t>r</a:t>
            </a:r>
            <a:r>
              <a:rPr sz="880" b="0" dirty="0">
                <a:solidFill>
                  <a:srgbClr val="5D6D7E"/>
                </a:solidFill>
                <a:latin typeface="Segoe UI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046219"/>
            <a:ext cx="183575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dirty="0">
                <a:solidFill>
                  <a:srgbClr val="FF0000"/>
                </a:solidFill>
                <a:latin typeface="Segoe UI"/>
              </a:rPr>
              <a:t>Activity references </a:t>
            </a:r>
            <a:r>
              <a:rPr sz="1100" b="0" dirty="0" err="1">
                <a:solidFill>
                  <a:srgbClr val="FF0000"/>
                </a:solidFill>
                <a:latin typeface="Segoe UI"/>
              </a:rPr>
              <a:t>entityId</a:t>
            </a:r>
            <a:endParaRPr sz="1100" b="0" dirty="0">
              <a:solidFill>
                <a:srgbClr val="FF0000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F2C54"/>
                </a:solidFill>
                <a:latin typeface="Segoe UI"/>
              </a:rPr>
              <a:t>Solution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32004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09728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1">
                <a:solidFill>
                  <a:srgbClr val="0F2C54"/>
                </a:solidFill>
                <a:latin typeface="Segoe UI"/>
              </a:rPr>
              <a:t>What this architecture enables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Structured lead lifecycle: capture -&gt; assign -&gt; follow-up -&gt; convert -&gt; customer management.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Role-aware operations with secure JWT authentication and backend authorization guards.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Traceability through centralized activity logging across auth, leads, customers, and follow-ups.</a:t>
            </a:r>
          </a:p>
          <a:p>
            <a:pPr algn="l"/>
            <a:r>
              <a:rPr sz="1100" b="0">
                <a:solidFill>
                  <a:srgbClr val="23272A"/>
                </a:solidFill>
                <a:latin typeface="Segoe UI"/>
              </a:rPr>
              <a:t>Actionable business insights through dashboard KPIs, conversion analytics, and performance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577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E86C1"/>
                </a:solidFill>
                <a:latin typeface="Segoe UI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838</Words>
  <Application>Microsoft Office PowerPoint</Application>
  <PresentationFormat>Widescreen</PresentationFormat>
  <Paragraphs>177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janarhtan senthilkumar</cp:lastModifiedBy>
  <cp:revision>2</cp:revision>
  <dcterms:created xsi:type="dcterms:W3CDTF">2013-01-27T09:14:16Z</dcterms:created>
  <dcterms:modified xsi:type="dcterms:W3CDTF">2026-04-07T12:12:01Z</dcterms:modified>
  <cp:category/>
</cp:coreProperties>
</file>