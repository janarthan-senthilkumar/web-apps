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0F172A"/>
                </a:solidFill>
              </a:rPr>
              <a:t>College Complaint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24028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334155"/>
                </a:solidFill>
              </a:rPr>
              <a:t>Project Architecture and Functional Design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26080"/>
            <a:ext cx="7772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</a:defRPr>
            </a:pPr>
            <a:r>
              <a:t>Technology: MERN stack (MongoDB, Express, React, Node.js)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</a:defRPr>
            </a:pPr>
            <a:r>
              <a:t>Roles: Admin, Staff, Student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</a:defRPr>
            </a:pPr>
            <a:r>
              <a:t>Includes architecture, modules, data flow, use case, and ER diagram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5212080"/>
            <a:ext cx="448056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Prepared from project source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1) Architecture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End-to-end system view across client, API, realtime, storage, and database layers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965960" cy="10515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81328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E40AF"/>
                </a:solidFill>
              </a:rPr>
              <a:t>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Admin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Staff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Student</a:t>
            </a:r>
          </a:p>
        </p:txBody>
      </p:sp>
      <p:sp>
        <p:nvSpPr>
          <p:cNvPr id="7" name="Chevron 6"/>
          <p:cNvSpPr/>
          <p:nvPr/>
        </p:nvSpPr>
        <p:spPr>
          <a:xfrm>
            <a:off x="2606040" y="1682496"/>
            <a:ext cx="594360" cy="411480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46120" y="1371600"/>
            <a:ext cx="2560320" cy="105156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0712" y="1481328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E40AF"/>
                </a:solidFill>
              </a:rPr>
              <a:t>Frontend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828800"/>
            <a:ext cx="2286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React + Vite UI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Role-based routes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Axios API client</a:t>
            </a:r>
          </a:p>
        </p:txBody>
      </p:sp>
      <p:sp>
        <p:nvSpPr>
          <p:cNvPr id="11" name="Chevron 10"/>
          <p:cNvSpPr/>
          <p:nvPr/>
        </p:nvSpPr>
        <p:spPr>
          <a:xfrm>
            <a:off x="5852160" y="1682496"/>
            <a:ext cx="594360" cy="411480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HTTPS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371600"/>
            <a:ext cx="2697480" cy="1051560"/>
          </a:xfrm>
          <a:prstGeom prst="roundRect">
            <a:avLst/>
          </a:prstGeom>
          <a:solidFill>
            <a:srgbClr val="F5F3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2552" y="1481328"/>
            <a:ext cx="2514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E40AF"/>
                </a:solidFill>
              </a:rPr>
              <a:t>Backend API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828800"/>
            <a:ext cx="2423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Node.js + Express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JWT auth middleware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Route controllers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063240"/>
            <a:ext cx="2468880" cy="1005840"/>
          </a:xfrm>
          <a:prstGeom prst="roundRect">
            <a:avLst/>
          </a:prstGeom>
          <a:solidFill>
            <a:srgbClr val="FEF9C3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172968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E40AF"/>
                </a:solidFill>
              </a:rPr>
              <a:t>Realtime Channel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5204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Socket.io events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newComplaint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complaintUpdated/newResponse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39" y="3063240"/>
            <a:ext cx="2468880" cy="1005840"/>
          </a:xfrm>
          <a:prstGeom prst="roundRect">
            <a:avLst/>
          </a:prstGeom>
          <a:solidFill>
            <a:srgbClr val="FFEDD5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1" y="3172968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E40AF"/>
                </a:solidFill>
              </a:rPr>
              <a:t>File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19" y="35204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Multer upload middleware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3 files max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/uploads static serving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3063240"/>
            <a:ext cx="2468880" cy="1005840"/>
          </a:xfrm>
          <a:prstGeom prst="roundRect">
            <a:avLst/>
          </a:prstGeom>
          <a:solidFill>
            <a:srgbClr val="E0E7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48272" y="3172968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E40AF"/>
                </a:solidFill>
              </a:rPr>
              <a:t>Data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5204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Mongoose models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User, Complaint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Response, Notification</a:t>
            </a:r>
          </a:p>
        </p:txBody>
      </p:sp>
      <p:sp>
        <p:nvSpPr>
          <p:cNvPr id="24" name="Can 23"/>
          <p:cNvSpPr/>
          <p:nvPr/>
        </p:nvSpPr>
        <p:spPr>
          <a:xfrm>
            <a:off x="9464040" y="3154680"/>
            <a:ext cx="2103120" cy="914400"/>
          </a:xfrm>
          <a:prstGeom prst="can">
            <a:avLst/>
          </a:prstGeom>
          <a:solidFill>
            <a:srgbClr val="DBEAFE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40AF"/>
                </a:solidFill>
              </a:rPr>
              <a:t>MongoDB</a:t>
            </a:r>
            <a:br/>
            <a:r>
              <a:t>complaint_management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7818120" y="2423160"/>
            <a:ext cx="45720" cy="640080"/>
          </a:xfrm>
          <a:prstGeom prst="line">
            <a:avLst/>
          </a:prstGeom>
          <a:ln w="2286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4983480" y="2423160"/>
            <a:ext cx="2331720" cy="640080"/>
          </a:xfrm>
          <a:prstGeom prst="line">
            <a:avLst/>
          </a:prstGeom>
          <a:ln w="2286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2148840" y="2423160"/>
            <a:ext cx="4754880" cy="640080"/>
          </a:xfrm>
          <a:prstGeom prst="line">
            <a:avLst/>
          </a:prstGeom>
          <a:ln w="2286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052560" y="3566160"/>
            <a:ext cx="411480" cy="0"/>
          </a:xfrm>
          <a:prstGeom prst="line">
            <a:avLst/>
          </a:prstGeom>
          <a:ln w="2286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" y="54406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334155"/>
                </a:solidFill>
              </a:defRPr>
            </a:pPr>
            <a:r>
              <a:t>Key idea: Frontend and backend are decoupled; backend centralizes auth, business rules, notifications, and persistence.</a:t>
            </a:r>
          </a:p>
          <a:p>
            <a:pPr>
              <a:defRPr sz="1250">
                <a:solidFill>
                  <a:srgbClr val="334155"/>
                </a:solidFill>
              </a:defRPr>
            </a:pPr>
            <a:r>
              <a:t>Realtime events (Socket.io) and periodic polling are both used to keep dashboards current.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2) Project Broken Into 6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Modules 1-3: Core identity, complaint intake, and admin orchestration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6576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89888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E40AF"/>
                </a:solidFill>
              </a:rPr>
              <a:t>Module 1: Authentication &amp; Access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3383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Registration/login with JWT token issuance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Role enforcement using protect + authorize middleware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Frontend role routes for admin/staff/user pages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280160"/>
            <a:ext cx="36576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1389888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E40AF"/>
                </a:solidFill>
              </a:rPr>
              <a:t>Module 2: Complaint Intake &amp;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737360"/>
            <a:ext cx="3383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Student submits complaint with category, priority, attachments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Multer validates file type/size and stores in uploads/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Students fetch only their own complaints with timeline 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280160"/>
            <a:ext cx="32004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7072" y="138988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E40AF"/>
                </a:solidFill>
              </a:rPr>
              <a:t>Module 3: Admin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737360"/>
            <a:ext cx="2926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View/filter/paginate all complaints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Assign staff and change complaint status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Manage users: edit role, department, active state, delete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46120"/>
            <a:ext cx="11064240" cy="2468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0156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</a:rPr>
              <a:t>Primary backend/frontend files involved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49039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Module 1: routes/auth.js, middleware/auth.js, models/User.js, context/AuthContext.jsx, components/ProtectedRoute.jsx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Module 2: routes/complaints.js, middleware/upload.js, models/Complaint.js, pages/user/SubmitComplaint.jsx, pages/user/TrackComplaints.jsx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Module 3: routes/admin.js, pages/admin/AdminComplaints.jsx, pages/admin/AdminUsers.jsx, pages/admin/AdminStaff.jsx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2) Project Broken Into 6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Modules 4-6: Staff handling, communication loop, and reporting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6576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89888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E40AF"/>
                </a:solidFill>
              </a:rPr>
              <a:t>Module 4: Staff Resolution Workspace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3383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Staff sees assigned complaints only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Updates status and internal notes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Role-safe actions enforced at API level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280160"/>
            <a:ext cx="36576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1389888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E40AF"/>
                </a:solidFill>
              </a:rPr>
              <a:t>Module 5: Responses &amp; Notifications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737360"/>
            <a:ext cx="3383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Threaded responses between user/staff/admin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Internal notes hidden from student role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Unread notification center with mark read/read-all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280160"/>
            <a:ext cx="320040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7072" y="1389888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E40AF"/>
                </a:solidFill>
              </a:rPr>
              <a:t>Module 6: Dashboards &amp;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737360"/>
            <a:ext cx="2926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Admin stats via aggregation (status/category/priority)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Staff and user dashboard KPIs</a:t>
            </a:r>
          </a:p>
          <a:p>
            <a:pPr>
              <a:spcAft>
                <a:spcPts val="800"/>
              </a:spcAft>
              <a:defRPr sz="1250">
                <a:solidFill>
                  <a:srgbClr val="334155"/>
                </a:solidFill>
              </a:defRPr>
            </a:pPr>
            <a:r>
              <a:t>Charts built using Recharts components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46120"/>
            <a:ext cx="11064240" cy="2468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0156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</a:rPr>
              <a:t>Primary backend/frontend files involved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49039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Module 4: routes/staff.js, pages/staff/StaffDashboard.jsx, pages/staff/StaffComplaints.jsx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Module 5: routes/responses.js, routes/notifications.js, models/Response.js, models/Notification.js, components/Topbar.jsx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Module 6: routes/admin.js (/stats), pages/admin/AdminDashboard.jsx, pages/user/UserDashboard.jsx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3)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Complaint lifecycle from submission to resolution and user feedback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417320" cy="23317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572768"/>
            <a:ext cx="118872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975104"/>
            <a:ext cx="118872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Student submits complaint</a:t>
            </a:r>
          </a:p>
          <a:p>
            <a:pPr algn="ctr"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(+ optional attachments)</a:t>
            </a:r>
          </a:p>
        </p:txBody>
      </p:sp>
      <p:sp>
        <p:nvSpPr>
          <p:cNvPr id="7" name="Chevron 6"/>
          <p:cNvSpPr/>
          <p:nvPr/>
        </p:nvSpPr>
        <p:spPr>
          <a:xfrm>
            <a:off x="2084832" y="2423160"/>
            <a:ext cx="164592" cy="411480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67712" y="1463040"/>
            <a:ext cx="1417320" cy="23317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77440" y="1572768"/>
            <a:ext cx="118872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975104"/>
            <a:ext cx="118872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API validates token,</a:t>
            </a:r>
          </a:p>
          <a:p>
            <a:pPr algn="ctr"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parses multipart files</a:t>
            </a:r>
          </a:p>
        </p:txBody>
      </p:sp>
      <p:sp>
        <p:nvSpPr>
          <p:cNvPr id="11" name="Chevron 10"/>
          <p:cNvSpPr/>
          <p:nvPr/>
        </p:nvSpPr>
        <p:spPr>
          <a:xfrm>
            <a:off x="3712464" y="2423160"/>
            <a:ext cx="164592" cy="411480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95344" y="1463040"/>
            <a:ext cx="1417320" cy="233172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005072" y="1572768"/>
            <a:ext cx="118872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5072" y="1975104"/>
            <a:ext cx="118872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Complaint document saved</a:t>
            </a:r>
          </a:p>
          <a:p>
            <a:pPr algn="ctr"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in MongoDB</a:t>
            </a:r>
          </a:p>
        </p:txBody>
      </p:sp>
      <p:sp>
        <p:nvSpPr>
          <p:cNvPr id="15" name="Chevron 14"/>
          <p:cNvSpPr/>
          <p:nvPr/>
        </p:nvSpPr>
        <p:spPr>
          <a:xfrm>
            <a:off x="5340096" y="2423160"/>
            <a:ext cx="164592" cy="411480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22976" y="1463040"/>
            <a:ext cx="1417320" cy="23317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32704" y="1572768"/>
            <a:ext cx="118872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32704" y="1975104"/>
            <a:ext cx="118872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Admin gets notification</a:t>
            </a:r>
          </a:p>
          <a:p>
            <a:pPr algn="ctr"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and assigns staff</a:t>
            </a:r>
          </a:p>
        </p:txBody>
      </p:sp>
      <p:sp>
        <p:nvSpPr>
          <p:cNvPr id="19" name="Chevron 18"/>
          <p:cNvSpPr/>
          <p:nvPr/>
        </p:nvSpPr>
        <p:spPr>
          <a:xfrm>
            <a:off x="6967728" y="2423160"/>
            <a:ext cx="164592" cy="411480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50608" y="1463040"/>
            <a:ext cx="1417320" cy="233172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260336" y="1572768"/>
            <a:ext cx="118872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0336" y="1975104"/>
            <a:ext cx="118872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Staff updates status</a:t>
            </a:r>
          </a:p>
          <a:p>
            <a:pPr algn="ctr"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and posts response</a:t>
            </a:r>
          </a:p>
        </p:txBody>
      </p:sp>
      <p:sp>
        <p:nvSpPr>
          <p:cNvPr id="23" name="Chevron 22"/>
          <p:cNvSpPr/>
          <p:nvPr/>
        </p:nvSpPr>
        <p:spPr>
          <a:xfrm>
            <a:off x="8595360" y="2423160"/>
            <a:ext cx="164592" cy="411480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78240" y="1463040"/>
            <a:ext cx="1417320" cy="233172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87968" y="1572768"/>
            <a:ext cx="118872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Step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8" y="1975104"/>
            <a:ext cx="118872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Notification + realtime event</a:t>
            </a:r>
          </a:p>
          <a:p>
            <a:pPr algn="ctr"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sent to related users</a:t>
            </a:r>
          </a:p>
        </p:txBody>
      </p:sp>
      <p:sp>
        <p:nvSpPr>
          <p:cNvPr id="27" name="Chevron 26"/>
          <p:cNvSpPr/>
          <p:nvPr/>
        </p:nvSpPr>
        <p:spPr>
          <a:xfrm>
            <a:off x="10222992" y="2423160"/>
            <a:ext cx="164592" cy="411480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405872" y="1463040"/>
            <a:ext cx="1417320" cy="23317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15600" y="1572768"/>
            <a:ext cx="118872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Step 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1975104"/>
            <a:ext cx="118872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Student tracks status,</a:t>
            </a:r>
          </a:p>
          <a:p>
            <a:pPr algn="ctr"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reads response thread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069080"/>
            <a:ext cx="10881360" cy="1691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224528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E40AF"/>
                </a:solidFill>
              </a:rPr>
              <a:t>Data Handling Notes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45262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Authorization is enforced before sensitive read/write operations (JWT + role check).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Internal staff notes are hidden from students when loading response threads.</a:t>
            </a:r>
          </a:p>
          <a:p>
            <a:pPr>
              <a:spcAft>
                <a:spcPts val="800"/>
              </a:spcAft>
              <a:defRPr sz="1200">
                <a:solidFill>
                  <a:srgbClr val="334155"/>
                </a:solidFill>
              </a:defRPr>
            </a:pPr>
            <a:r>
              <a:t>UI freshness combines polling (10-20 seconds) with Socket.io emits for key events.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4)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Role-wise functional capabilities in the complaint management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2194560" y="1234440"/>
            <a:ext cx="8046720" cy="5212080"/>
          </a:xfrm>
          <a:prstGeom prst="rect">
            <a:avLst/>
          </a:prstGeom>
          <a:solidFill>
            <a:srgbClr val="FAFAFC"/>
          </a:solidFill>
          <a:ln w="1778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31720" y="13258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</a:rPr>
              <a:t>System Boundary: Complaint Management System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828800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96112" y="2148840"/>
            <a:ext cx="0" cy="54864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40080" y="2331720"/>
            <a:ext cx="51206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685800" y="2697480"/>
            <a:ext cx="210312" cy="32004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96112" y="2697480"/>
            <a:ext cx="210312" cy="32004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303580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34155"/>
                </a:solidFill>
              </a:rPr>
              <a:t>Student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971800"/>
            <a:ext cx="320040" cy="3200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896112" y="3291840"/>
            <a:ext cx="0" cy="54864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0080" y="3474720"/>
            <a:ext cx="512064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685800" y="3840480"/>
            <a:ext cx="210312" cy="32004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96112" y="3840480"/>
            <a:ext cx="210312" cy="32004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417880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34155"/>
                </a:solidFill>
              </a:rPr>
              <a:t>Staff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114800"/>
            <a:ext cx="320040" cy="320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896112" y="4434840"/>
            <a:ext cx="0" cy="548640"/>
          </a:xfrm>
          <a:prstGeom prst="line">
            <a:avLst/>
          </a:prstGeom>
          <a:ln w="254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40080" y="4617720"/>
            <a:ext cx="512064" cy="0"/>
          </a:xfrm>
          <a:prstGeom prst="line">
            <a:avLst/>
          </a:prstGeom>
          <a:ln w="254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85800" y="4983480"/>
            <a:ext cx="210312" cy="320040"/>
          </a:xfrm>
          <a:prstGeom prst="line">
            <a:avLst/>
          </a:prstGeom>
          <a:ln w="254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96112" y="4983480"/>
            <a:ext cx="210312" cy="320040"/>
          </a:xfrm>
          <a:prstGeom prst="line">
            <a:avLst/>
          </a:prstGeom>
          <a:ln w="254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532180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34155"/>
                </a:solidFill>
              </a:rPr>
              <a:t>Admin</a:t>
            </a:r>
          </a:p>
        </p:txBody>
      </p:sp>
      <p:sp>
        <p:nvSpPr>
          <p:cNvPr id="24" name="Oval 23"/>
          <p:cNvSpPr/>
          <p:nvPr/>
        </p:nvSpPr>
        <p:spPr>
          <a:xfrm>
            <a:off x="2743200" y="1783080"/>
            <a:ext cx="2011680" cy="822960"/>
          </a:xfrm>
          <a:prstGeom prst="ellipse">
            <a:avLst/>
          </a:prstGeom>
          <a:solidFill>
            <a:srgbClr val="E2E8F0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Authenticate</a:t>
            </a:r>
            <a:br/>
            <a:r>
              <a:t>(Login/Register)</a:t>
            </a:r>
          </a:p>
        </p:txBody>
      </p:sp>
      <p:sp>
        <p:nvSpPr>
          <p:cNvPr id="25" name="Oval 24"/>
          <p:cNvSpPr/>
          <p:nvPr/>
        </p:nvSpPr>
        <p:spPr>
          <a:xfrm>
            <a:off x="2743200" y="2788920"/>
            <a:ext cx="2011680" cy="822960"/>
          </a:xfrm>
          <a:prstGeom prst="ellipse">
            <a:avLst/>
          </a:prstGeom>
          <a:solidFill>
            <a:srgbClr val="E2E8F0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Submit</a:t>
            </a:r>
            <a:br/>
            <a:r>
              <a:t>Complaint</a:t>
            </a:r>
          </a:p>
        </p:txBody>
      </p:sp>
      <p:sp>
        <p:nvSpPr>
          <p:cNvPr id="26" name="Oval 25"/>
          <p:cNvSpPr/>
          <p:nvPr/>
        </p:nvSpPr>
        <p:spPr>
          <a:xfrm>
            <a:off x="2743200" y="3794760"/>
            <a:ext cx="2011680" cy="822960"/>
          </a:xfrm>
          <a:prstGeom prst="ellipse">
            <a:avLst/>
          </a:prstGeom>
          <a:solidFill>
            <a:srgbClr val="E2E8F0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Track Status &amp;</a:t>
            </a:r>
            <a:br/>
            <a:r>
              <a:t>View Responses</a:t>
            </a:r>
          </a:p>
        </p:txBody>
      </p:sp>
      <p:sp>
        <p:nvSpPr>
          <p:cNvPr id="27" name="Oval 26"/>
          <p:cNvSpPr/>
          <p:nvPr/>
        </p:nvSpPr>
        <p:spPr>
          <a:xfrm>
            <a:off x="5166360" y="2331720"/>
            <a:ext cx="2011680" cy="822960"/>
          </a:xfrm>
          <a:prstGeom prst="ellipse">
            <a:avLst/>
          </a:prstGeom>
          <a:solidFill>
            <a:srgbClr val="E2E8F0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Handle Assigned</a:t>
            </a:r>
            <a:br/>
            <a:r>
              <a:t>Complaints</a:t>
            </a:r>
          </a:p>
        </p:txBody>
      </p:sp>
      <p:sp>
        <p:nvSpPr>
          <p:cNvPr id="28" name="Oval 27"/>
          <p:cNvSpPr/>
          <p:nvPr/>
        </p:nvSpPr>
        <p:spPr>
          <a:xfrm>
            <a:off x="5166360" y="3383280"/>
            <a:ext cx="2011680" cy="822960"/>
          </a:xfrm>
          <a:prstGeom prst="ellipse">
            <a:avLst/>
          </a:prstGeom>
          <a:solidFill>
            <a:srgbClr val="E2E8F0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Update Status /</a:t>
            </a:r>
            <a:br/>
            <a:r>
              <a:t>Add Notes</a:t>
            </a:r>
          </a:p>
        </p:txBody>
      </p:sp>
      <p:sp>
        <p:nvSpPr>
          <p:cNvPr id="29" name="Oval 28"/>
          <p:cNvSpPr/>
          <p:nvPr/>
        </p:nvSpPr>
        <p:spPr>
          <a:xfrm>
            <a:off x="7589520" y="2057400"/>
            <a:ext cx="2011680" cy="822960"/>
          </a:xfrm>
          <a:prstGeom prst="ellipse">
            <a:avLst/>
          </a:prstGeom>
          <a:solidFill>
            <a:srgbClr val="E2E8F0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Assign Staff /</a:t>
            </a:r>
            <a:br/>
            <a:r>
              <a:t>Manage Users</a:t>
            </a:r>
          </a:p>
        </p:txBody>
      </p:sp>
      <p:sp>
        <p:nvSpPr>
          <p:cNvPr id="30" name="Oval 29"/>
          <p:cNvSpPr/>
          <p:nvPr/>
        </p:nvSpPr>
        <p:spPr>
          <a:xfrm>
            <a:off x="7589520" y="3337560"/>
            <a:ext cx="2011680" cy="822960"/>
          </a:xfrm>
          <a:prstGeom prst="ellipse">
            <a:avLst/>
          </a:prstGeom>
          <a:solidFill>
            <a:srgbClr val="E2E8F0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View Analytics &amp;</a:t>
            </a:r>
            <a:br/>
            <a:r>
              <a:t>Control Workflow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1161288" y="2194560.0"/>
            <a:ext cx="2587752.0" cy="137160.0"/>
          </a:xfrm>
          <a:prstGeom prst="line">
            <a:avLst/>
          </a:prstGeom>
          <a:ln w="1397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161288" y="2194560.0"/>
            <a:ext cx="2587752.0" cy="1280160.0"/>
          </a:xfrm>
          <a:prstGeom prst="line">
            <a:avLst/>
          </a:prstGeom>
          <a:ln w="1397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161288" y="2194560.0"/>
            <a:ext cx="2587752.0" cy="2423160.0"/>
          </a:xfrm>
          <a:prstGeom prst="line">
            <a:avLst/>
          </a:prstGeom>
          <a:ln w="1397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161288" y="2331720"/>
            <a:ext cx="2587752.0" cy="868680.0"/>
          </a:xfrm>
          <a:prstGeom prst="line">
            <a:avLst/>
          </a:prstGeom>
          <a:ln w="1397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61288" y="2331720"/>
            <a:ext cx="2587752.0" cy="1874520.0"/>
          </a:xfrm>
          <a:prstGeom prst="line">
            <a:avLst/>
          </a:prstGeom>
          <a:ln w="1397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161288" y="2743200.0"/>
            <a:ext cx="5010912.0" cy="731520.0"/>
          </a:xfrm>
          <a:prstGeom prst="line">
            <a:avLst/>
          </a:prstGeom>
          <a:ln w="1397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61288" y="3474720"/>
            <a:ext cx="5010912.0" cy="320040.0"/>
          </a:xfrm>
          <a:prstGeom prst="line">
            <a:avLst/>
          </a:prstGeom>
          <a:ln w="1397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161288" y="2468880.0"/>
            <a:ext cx="7434072.0" cy="2148840.0"/>
          </a:xfrm>
          <a:prstGeom prst="line">
            <a:avLst/>
          </a:prstGeom>
          <a:ln w="1397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161288" y="3749040.0"/>
            <a:ext cx="7434072.0" cy="868680.0"/>
          </a:xfrm>
          <a:prstGeom prst="line">
            <a:avLst/>
          </a:prstGeom>
          <a:ln w="1397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</a:rPr>
              <a:t>5) ER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Core entities and relationships implemented in MongoDB via Mongoose schemas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926080" cy="2560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35608"/>
            <a:ext cx="2889504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56232"/>
            <a:ext cx="2779776" cy="2048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PK _id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name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email (unique)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password (hashed)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role {admin,staff,user}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department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isActive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createdAt, updatedAt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143000"/>
            <a:ext cx="3383280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07408" y="1161288"/>
            <a:ext cx="3346704" cy="36576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Complaint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62272" y="1581912"/>
            <a:ext cx="3236976" cy="2596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PK _id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title, description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category, priority, status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attachments[]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FK submittedBy -&gt; User._id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FK assignedTo -&gt; User._id (nullable)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department, notes, resolvedAt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createdAt, updatedAt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343400"/>
            <a:ext cx="301752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8" y="4361688"/>
            <a:ext cx="2980944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782312"/>
            <a:ext cx="2871216" cy="1499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PK _id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FK complaint -&gt; Complaint._id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FK respondedBy -&gt; User._id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message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isInternal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createdAt, updatedAt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4343400"/>
            <a:ext cx="33832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56448" y="4361688"/>
            <a:ext cx="3346704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Notification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4782312"/>
            <a:ext cx="3236976" cy="1499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PK _id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FK user -&gt; User._id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message, type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FK relatedComplaint -&gt; Complaint._id (nullable)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isRead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createdAt, updatedAt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66160" y="2331720"/>
            <a:ext cx="82296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11880" y="2029968"/>
            <a:ext cx="868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</a:rPr>
              <a:t>1..*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1024" y="2542032"/>
            <a:ext cx="868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submittedBy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2331720" y="4251960"/>
            <a:ext cx="3703320" cy="9144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840480" y="4160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</a:rPr>
              <a:t>1..*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194560" y="3977639"/>
            <a:ext cx="137160" cy="365761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481328" y="4059936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</a:rPr>
              <a:t>1..*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04164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writes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0" y="2697480"/>
            <a:ext cx="457200" cy="201168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818120" y="35204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</a:rPr>
              <a:t>1..*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794760"/>
            <a:ext cx="1143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</a:rPr>
              <a:t>relatedComplaint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566160" y="3200400"/>
            <a:ext cx="4572000" cy="150876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697480" y="354787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</a:rPr>
              <a:t>1..*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78608" y="3776472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receives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Project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468880"/>
            <a:ext cx="102412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Layered MERN architecture with role-secure operations</a:t>
            </a:r>
          </a:p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Complete complaint lifecycle: submit -&gt; assign -&gt; resolve -&gt; notify</a:t>
            </a:r>
          </a:p>
          <a:p>
            <a:pPr>
              <a:spcAft>
                <a:spcPts val="1400"/>
              </a:spcAft>
              <a:defRPr sz="1800">
                <a:solidFill>
                  <a:srgbClr val="E2E8F0"/>
                </a:solidFill>
              </a:defRPr>
            </a:pPr>
            <a:r>
              <a:t>Clear data model centered on User, Complaint, Response, and Notification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8978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End of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